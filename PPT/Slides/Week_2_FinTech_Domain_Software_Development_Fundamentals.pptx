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601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7A78"/>
                </a:solidFill>
                <a:latin typeface="Aptos"/>
              </a:rPr>
              <a:t>WEEK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64208"/>
            <a:ext cx="10698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FinTech Domain &amp; Software
Development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333756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2DDEB"/>
                </a:solidFill>
                <a:latin typeface="Aptos"/>
              </a:rPr>
              <a:t>Stock markets • APIs &amp; JSON • Git/GitHub • Data flow •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709160"/>
            <a:ext cx="5577840" cy="1005840"/>
          </a:xfrm>
          <a:prstGeom prst="roundRect">
            <a:avLst/>
          </a:prstGeom>
          <a:solidFill>
            <a:srgbClr val="20395C"/>
          </a:solidFill>
          <a:ln>
            <a:solidFill>
              <a:srgbClr val="15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600" b="1">
                <a:solidFill>
                  <a:srgbClr val="172B4D"/>
                </a:solidFill>
                <a:latin typeface="Aptos Display"/>
              </a:rPr>
              <a:t>Prepared by: RAGHUNATHAREDDY GR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36273"/>
                </a:solidFill>
                <a:latin typeface="Aptos"/>
              </a:rPr>
              <a:t>FinTech internship prerequisite | 15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080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8E4"/>
                </a:solidFill>
                <a:latin typeface="Aptos"/>
              </a:rPr>
              <a:t>Education only. Not investment or trading advice.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ptos"/>
              </a:rPr>
              <a:t>1. Stock Market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36273"/>
                </a:solidFill>
                <a:latin typeface="Aptos"/>
              </a:rPr>
              <a:t>The vocabulary behind market and financial datasets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88720"/>
            <a:ext cx="11064240" cy="32004"/>
          </a:xfrm>
          <a:prstGeom prst="rect">
            <a:avLst/>
          </a:prstGeom>
          <a:solidFill>
            <a:srgbClr val="15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520440" cy="1417320"/>
          </a:xfrm>
          <a:prstGeom prst="roundRect">
            <a:avLst/>
          </a:prstGeom>
          <a:solidFill>
            <a:srgbClr val="ECF3FA"/>
          </a:solidFill>
          <a:ln>
            <a:solidFill>
              <a:srgbClr val="245C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600" b="1">
                <a:solidFill>
                  <a:srgbClr val="172B4D"/>
                </a:solidFill>
                <a:latin typeface="Aptos Display"/>
              </a:rPr>
              <a:t>Exchanges &amp; indices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36273"/>
                </a:solidFill>
                <a:latin typeface="Aptos"/>
              </a:rPr>
              <a:t>NSE and BSE are venues. Nifty 50 covers 50 large/liquid names; Sensex tracks 30 BSE companies.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08760"/>
            <a:ext cx="3520440" cy="1417320"/>
          </a:xfrm>
          <a:prstGeom prst="roundRect">
            <a:avLst/>
          </a:prstGeom>
          <a:solidFill>
            <a:srgbClr val="ECF3FA"/>
          </a:solidFill>
          <a:ln>
            <a:solidFill>
              <a:srgbClr val="245C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600" b="1">
                <a:solidFill>
                  <a:srgbClr val="172B4D"/>
                </a:solidFill>
                <a:latin typeface="Aptos Display"/>
              </a:rPr>
              <a:t>Primary vs secondary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36273"/>
                </a:solidFill>
                <a:latin typeface="Aptos"/>
              </a:rPr>
              <a:t>IPO issues/listings bring a company to public markets. SME IPOs are for eligible smaller enterprises under current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08760"/>
            <a:ext cx="3520440" cy="1417320"/>
          </a:xfrm>
          <a:prstGeom prst="roundRect">
            <a:avLst/>
          </a:prstGeom>
          <a:solidFill>
            <a:srgbClr val="ECF3FA"/>
          </a:solidFill>
          <a:ln>
            <a:solidFill>
              <a:srgbClr val="245C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600" b="1">
                <a:solidFill>
                  <a:srgbClr val="172B4D"/>
                </a:solidFill>
                <a:latin typeface="Aptos Display"/>
              </a:rPr>
              <a:t>Valuation vocabulary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36273"/>
                </a:solidFill>
                <a:latin typeface="Aptos"/>
              </a:rPr>
              <a:t>Market cap = price × shares. P/E = price/EPS. P/B = price/book value per share. Volume measures shares traded.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3520440" cy="1417320"/>
          </a:xfrm>
          <a:prstGeom prst="roundRect">
            <a:avLst/>
          </a:prstGeom>
          <a:solidFill>
            <a:srgbClr val="ECF3FA"/>
          </a:solidFill>
          <a:ln>
            <a:solidFill>
              <a:srgbClr val="245C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600" b="1">
                <a:solidFill>
                  <a:srgbClr val="172B4D"/>
                </a:solidFill>
                <a:latin typeface="Aptos Display"/>
              </a:rPr>
              <a:t>Shareholder returns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36273"/>
                </a:solidFill>
                <a:latin typeface="Aptos"/>
              </a:rPr>
              <a:t>EPS, dividends, bonus issues and splits need corporate-action context. Dividends are not guaranteed.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246120"/>
            <a:ext cx="3520440" cy="1417320"/>
          </a:xfrm>
          <a:prstGeom prst="roundRect">
            <a:avLst/>
          </a:prstGeom>
          <a:solidFill>
            <a:srgbClr val="ECF3FA"/>
          </a:solidFill>
          <a:ln>
            <a:solidFill>
              <a:srgbClr val="245C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600" b="1">
                <a:solidFill>
                  <a:srgbClr val="172B4D"/>
                </a:solidFill>
                <a:latin typeface="Aptos Display"/>
              </a:rPr>
              <a:t>Three statements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36273"/>
                </a:solidFill>
                <a:latin typeface="Aptos"/>
              </a:rPr>
              <a:t>P&amp;L: period performance. Balance Sheet: assets/liabilities/equity at a date. Cash Flow: operating, investing and financing cash movements.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246120"/>
            <a:ext cx="3520440" cy="1417320"/>
          </a:xfrm>
          <a:prstGeom prst="roundRect">
            <a:avLst/>
          </a:prstGeom>
          <a:solidFill>
            <a:srgbClr val="ECF3FA"/>
          </a:solidFill>
          <a:ln>
            <a:solidFill>
              <a:srgbClr val="245C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600" b="1">
                <a:solidFill>
                  <a:srgbClr val="172B4D"/>
                </a:solidFill>
                <a:latin typeface="Aptos Display"/>
              </a:rPr>
              <a:t>Market plumbing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36273"/>
                </a:solidFill>
                <a:latin typeface="Aptos"/>
              </a:rPr>
              <a:t>Broker, demat account, DP, NSDL/CDSL, clearing corporation and SEBI. Standard equity rolling settlement is generally T+1.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66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57A78"/>
                </a:solidFill>
                <a:latin typeface="Aptos"/>
              </a:rPr>
              <a:t>Analyst rule: verify units, reporting period, consolidated vs standalone basis, corporate actions and data freshness.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10515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36273"/>
                </a:solidFill>
                <a:latin typeface="Aptos"/>
              </a:rPr>
              <a:t>Week 2 | FinTech Domain &amp; Software Development Fundamentals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510528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36273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ptos"/>
              </a:rPr>
              <a:t>2. Listed Company Financial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36273"/>
                </a:solidFill>
                <a:latin typeface="Aptos"/>
              </a:rPr>
              <a:t>Infosys Limited | FY2025-26 vs FY2024-25 | Consolidated Ind 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88720"/>
            <a:ext cx="11064240" cy="32004"/>
          </a:xfrm>
          <a:prstGeom prst="rect">
            <a:avLst/>
          </a:prstGeom>
          <a:solidFill>
            <a:srgbClr val="15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337560" cy="1115568"/>
          </a:xfrm>
          <a:prstGeom prst="roundRect">
            <a:avLst/>
          </a:prstGeom>
          <a:solidFill>
            <a:srgbClr val="ECF3FA"/>
          </a:solidFill>
          <a:ln>
            <a:solidFill>
              <a:srgbClr val="245C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600" b="1">
                <a:solidFill>
                  <a:srgbClr val="172B4D"/>
                </a:solidFill>
                <a:latin typeface="Aptos Display"/>
              </a:rPr>
              <a:t>Revenue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36273"/>
                </a:solidFill>
                <a:latin typeface="Aptos"/>
              </a:rPr>
              <a:t>₹178,650 crore
+9.6% year on year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508760"/>
            <a:ext cx="3337560" cy="1115568"/>
          </a:xfrm>
          <a:prstGeom prst="roundRect">
            <a:avLst/>
          </a:prstGeom>
          <a:solidFill>
            <a:srgbClr val="ECF3FA"/>
          </a:solidFill>
          <a:ln>
            <a:solidFill>
              <a:srgbClr val="15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600" b="1">
                <a:solidFill>
                  <a:srgbClr val="172B4D"/>
                </a:solidFill>
                <a:latin typeface="Aptos Display"/>
              </a:rPr>
              <a:t>Profit for year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36273"/>
                </a:solidFill>
                <a:latin typeface="Aptos"/>
              </a:rPr>
              <a:t>₹29,474 crore
+10.2% year on year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508760"/>
            <a:ext cx="3337560" cy="1115568"/>
          </a:xfrm>
          <a:prstGeom prst="roundRect">
            <a:avLst/>
          </a:prstGeom>
          <a:solidFill>
            <a:srgbClr val="ECF3FA"/>
          </a:solidFill>
          <a:ln>
            <a:solidFill>
              <a:srgbClr val="BB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600" b="1">
                <a:solidFill>
                  <a:srgbClr val="172B4D"/>
                </a:solidFill>
                <a:latin typeface="Aptos Display"/>
              </a:rPr>
              <a:t>Basic EPS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36273"/>
                </a:solidFill>
                <a:latin typeface="Aptos"/>
              </a:rPr>
              <a:t>₹71.58
+11.0% year on year</a:t>
            </a:r>
          </a:p>
        </p:txBody>
      </p:sp>
      <p:pic>
        <p:nvPicPr>
          <p:cNvPr id="8" name="Picture 7" descr="infosys_financial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834640"/>
            <a:ext cx="6400800" cy="3383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79" y="29718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B4D"/>
                </a:solidFill>
                <a:latin typeface="Aptos"/>
              </a:rPr>
              <a:t>What to investigate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3520440"/>
            <a:ext cx="3886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172B4D"/>
                </a:solidFill>
                <a:latin typeface="Aptos"/>
              </a:defRPr>
            </a:pPr>
            <a:r>
              <a:t>Current ratio: 2.27x → 1.98x</a:t>
            </a:r>
          </a:p>
          <a:p>
            <a:pPr>
              <a:spcAft>
                <a:spcPts val="1300"/>
              </a:spcAft>
              <a:defRPr sz="1300">
                <a:solidFill>
                  <a:srgbClr val="172B4D"/>
                </a:solidFill>
                <a:latin typeface="Aptos"/>
              </a:defRPr>
            </a:pPr>
            <a:r>
              <a:t>Trade receivables: +13.1% YoY</a:t>
            </a:r>
          </a:p>
          <a:p>
            <a:pPr>
              <a:spcAft>
                <a:spcPts val="1300"/>
              </a:spcAft>
              <a:defRPr sz="1300">
                <a:solidFill>
                  <a:srgbClr val="172B4D"/>
                </a:solidFill>
                <a:latin typeface="Aptos"/>
              </a:defRPr>
            </a:pPr>
            <a:r>
              <a:t>Operating cash flow: -4.8% YoY</a:t>
            </a:r>
          </a:p>
          <a:p>
            <a:pPr>
              <a:spcAft>
                <a:spcPts val="1300"/>
              </a:spcAft>
              <a:defRPr sz="1300">
                <a:solidFill>
                  <a:srgbClr val="172B4D"/>
                </a:solidFill>
                <a:latin typeface="Aptos"/>
              </a:defRPr>
            </a:pPr>
            <a:r>
              <a:t>Compare profit with cash conversion and working capital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10515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36273"/>
                </a:solidFill>
                <a:latin typeface="Aptos"/>
              </a:rPr>
              <a:t>Week 2 | FinTech Domain &amp; Software Development Fundamentals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10528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36273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ptos"/>
              </a:rPr>
              <a:t>3. Reading Financial Statements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36273"/>
                </a:solidFill>
                <a:latin typeface="Aptos"/>
              </a:rPr>
              <a:t>Interpret signals together; ratios alone rarely tell the whole 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88720"/>
            <a:ext cx="11064240" cy="32004"/>
          </a:xfrm>
          <a:prstGeom prst="rect">
            <a:avLst/>
          </a:prstGeom>
          <a:solidFill>
            <a:srgbClr val="15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3383280" cy="1920240"/>
          </a:xfrm>
          <a:prstGeom prst="roundRect">
            <a:avLst/>
          </a:prstGeom>
          <a:solidFill>
            <a:srgbClr val="ECF3FA"/>
          </a:solidFill>
          <a:ln>
            <a:solidFill>
              <a:srgbClr val="245C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600" b="1">
                <a:solidFill>
                  <a:srgbClr val="172B4D"/>
                </a:solidFill>
                <a:latin typeface="Aptos Display"/>
              </a:rPr>
              <a:t>Profit &amp; Loss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36273"/>
                </a:solidFill>
                <a:latin typeface="Aptos"/>
              </a:rPr>
              <a:t>Revenue growth +9.6%
Profit for year +10.2%
Profit margin roughly stable to slightly higher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554480"/>
            <a:ext cx="3383280" cy="1920240"/>
          </a:xfrm>
          <a:prstGeom prst="roundRect">
            <a:avLst/>
          </a:prstGeom>
          <a:solidFill>
            <a:srgbClr val="ECF3FA"/>
          </a:solidFill>
          <a:ln>
            <a:solidFill>
              <a:srgbClr val="15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600" b="1">
                <a:solidFill>
                  <a:srgbClr val="172B4D"/>
                </a:solidFill>
                <a:latin typeface="Aptos Display"/>
              </a:rPr>
              <a:t>Balance Sheet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36273"/>
                </a:solidFill>
                <a:latin typeface="Aptos"/>
              </a:rPr>
              <a:t>Assets +4.7%
Current liabilities +22.1%
Current ratio down to 1.98x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554480"/>
            <a:ext cx="3383280" cy="1920240"/>
          </a:xfrm>
          <a:prstGeom prst="roundRect">
            <a:avLst/>
          </a:prstGeom>
          <a:solidFill>
            <a:srgbClr val="ECF3FA"/>
          </a:solidFill>
          <a:ln>
            <a:solidFill>
              <a:srgbClr val="BB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600" b="1">
                <a:solidFill>
                  <a:srgbClr val="172B4D"/>
                </a:solidFill>
                <a:latin typeface="Aptos Display"/>
              </a:rPr>
              <a:t>Cash Flow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36273"/>
                </a:solidFill>
                <a:latin typeface="Aptos"/>
              </a:rPr>
              <a:t>Operating cash flow -4.8%
Simple FCF (CFO - capex) down
Financing outflow larger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72B4D"/>
                </a:solidFill>
                <a:latin typeface="Aptos"/>
              </a:rPr>
              <a:t>Ratios in the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36273"/>
                </a:solidFill>
                <a:latin typeface="Aptos"/>
              </a:rPr>
              <a:t>Net profit margin = net profit / revenue     •     Current ratio = current assets / current liabilities
EPS = profit attributable to ordinary shareholders / weighted-average shares     •     FCF (simple) = operating cash flow - capex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B6B20"/>
                </a:solidFill>
                <a:latin typeface="Aptos"/>
              </a:rPr>
              <a:t>Historical comparison, not a forecast or investment recommendation.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10515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36273"/>
                </a:solidFill>
                <a:latin typeface="Aptos"/>
              </a:rPr>
              <a:t>Week 2 | FinTech Domain &amp; Software Development Fundamentals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10528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36273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ptos"/>
              </a:rPr>
              <a:t>4. REST API &amp; JSON: Public Data to CSV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36273"/>
                </a:solidFill>
                <a:latin typeface="Aptos"/>
              </a:rPr>
              <a:t>Hands-on exercise using Frankfurter exchange-rate reference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88720"/>
            <a:ext cx="11064240" cy="32004"/>
          </a:xfrm>
          <a:prstGeom prst="rect">
            <a:avLst/>
          </a:prstGeom>
          <a:solidFill>
            <a:srgbClr val="15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200400" cy="1325880"/>
          </a:xfrm>
          <a:prstGeom prst="roundRect">
            <a:avLst/>
          </a:prstGeom>
          <a:solidFill>
            <a:srgbClr val="ECF3FA"/>
          </a:solidFill>
          <a:ln>
            <a:solidFill>
              <a:srgbClr val="245C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600" b="1">
                <a:solidFill>
                  <a:srgbClr val="172B4D"/>
                </a:solidFill>
                <a:latin typeface="Aptos Display"/>
              </a:rPr>
              <a:t>1. GET request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36273"/>
                </a:solidFill>
                <a:latin typeface="Aptos"/>
              </a:rPr>
              <a:t>/v2/rates?base=USD&amp;quotes=INR,EUR,GBP,JPY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600200"/>
            <a:ext cx="3200400" cy="1325880"/>
          </a:xfrm>
          <a:prstGeom prst="roundRect">
            <a:avLst/>
          </a:prstGeom>
          <a:solidFill>
            <a:srgbClr val="ECF3FA"/>
          </a:solidFill>
          <a:ln>
            <a:solidFill>
              <a:srgbClr val="15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600" b="1">
                <a:solidFill>
                  <a:srgbClr val="172B4D"/>
                </a:solidFill>
                <a:latin typeface="Aptos Display"/>
              </a:rPr>
              <a:t>2. Inspect JSON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36273"/>
                </a:solidFill>
                <a:latin typeface="Aptos"/>
              </a:rPr>
              <a:t>Check HTTP status, data type, fields and missing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600200"/>
            <a:ext cx="3200400" cy="1325880"/>
          </a:xfrm>
          <a:prstGeom prst="roundRect">
            <a:avLst/>
          </a:prstGeom>
          <a:solidFill>
            <a:srgbClr val="ECF3FA"/>
          </a:solidFill>
          <a:ln>
            <a:solidFill>
              <a:srgbClr val="BB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600" b="1">
                <a:solidFill>
                  <a:srgbClr val="172B4D"/>
                </a:solidFill>
                <a:latin typeface="Aptos Display"/>
              </a:rPr>
              <a:t>3. Export CSV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36273"/>
                </a:solidFill>
                <a:latin typeface="Aptos"/>
              </a:rPr>
              <a:t>Python requests + Pandas writes normalized rows.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B4D"/>
                </a:solidFill>
                <a:latin typeface="Aptos"/>
              </a:rPr>
              <a:t>Run from project root: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886200"/>
            <a:ext cx="1033272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245C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600" b="1">
                <a:solidFill>
                  <a:srgbClr val="172B4D"/>
                </a:solidFill>
                <a:latin typeface="Aptos Display"/>
              </a:rPr>
              <a:t>Command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36273"/>
                </a:solidFill>
                <a:latin typeface="Aptos"/>
              </a:rPr>
              <a:t>python "Source Code/api_extract.py"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25780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36273"/>
                </a:solidFill>
                <a:latin typeface="Aptos"/>
              </a:rPr>
              <a:t>No API key required. A live request must run on an internet-connected machine; the included CSV is an example row from the API docs, not a full live extraction.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10515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36273"/>
                </a:solidFill>
                <a:latin typeface="Aptos"/>
              </a:rPr>
              <a:t>Week 2 | FinTech Domain &amp; Software Development Fundamentals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10528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36273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ptos"/>
              </a:rPr>
              <a:t>5. Git &amp; 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36273"/>
                </a:solidFill>
                <a:latin typeface="Aptos"/>
              </a:rPr>
              <a:t>Track assignments with meaningful version history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88720"/>
            <a:ext cx="11064240" cy="32004"/>
          </a:xfrm>
          <a:prstGeom prst="rect">
            <a:avLst/>
          </a:prstGeom>
          <a:solidFill>
            <a:srgbClr val="15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2377440" cy="1234440"/>
          </a:xfrm>
          <a:prstGeom prst="roundRect">
            <a:avLst/>
          </a:prstGeom>
          <a:solidFill>
            <a:srgbClr val="ECF3FA"/>
          </a:solidFill>
          <a:ln>
            <a:solidFill>
              <a:srgbClr val="245C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600" b="1">
                <a:solidFill>
                  <a:srgbClr val="172B4D"/>
                </a:solidFill>
                <a:latin typeface="Aptos Display"/>
              </a:rPr>
              <a:t>Working tree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36273"/>
                </a:solidFill>
                <a:latin typeface="Aptos"/>
              </a:rPr>
              <a:t>Edit files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00200"/>
            <a:ext cx="2377440" cy="1234440"/>
          </a:xfrm>
          <a:prstGeom prst="roundRect">
            <a:avLst/>
          </a:prstGeom>
          <a:solidFill>
            <a:srgbClr val="ECF3FA"/>
          </a:solidFill>
          <a:ln>
            <a:solidFill>
              <a:srgbClr val="15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600" b="1">
                <a:solidFill>
                  <a:srgbClr val="172B4D"/>
                </a:solidFill>
                <a:latin typeface="Aptos Display"/>
              </a:rPr>
              <a:t>Staging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36273"/>
                </a:solidFill>
                <a:latin typeface="Aptos"/>
              </a:rPr>
              <a:t>git add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600200"/>
            <a:ext cx="2377440" cy="1234440"/>
          </a:xfrm>
          <a:prstGeom prst="roundRect">
            <a:avLst/>
          </a:prstGeom>
          <a:solidFill>
            <a:srgbClr val="ECF3FA"/>
          </a:solidFill>
          <a:ln>
            <a:solidFill>
              <a:srgbClr val="BB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600" b="1">
                <a:solidFill>
                  <a:srgbClr val="172B4D"/>
                </a:solidFill>
                <a:latin typeface="Aptos Display"/>
              </a:rPr>
              <a:t>Local history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36273"/>
                </a:solidFill>
                <a:latin typeface="Aptos"/>
              </a:rPr>
              <a:t>git commit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1600200"/>
            <a:ext cx="2377440" cy="1234440"/>
          </a:xfrm>
          <a:prstGeom prst="roundRect">
            <a:avLst/>
          </a:prstGeom>
          <a:solidFill>
            <a:srgbClr val="ECF3FA"/>
          </a:solidFill>
          <a:ln>
            <a:solidFill>
              <a:srgbClr val="245C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600" b="1">
                <a:solidFill>
                  <a:srgbClr val="172B4D"/>
                </a:solidFill>
                <a:latin typeface="Aptos Display"/>
              </a:rPr>
              <a:t>Remote repo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36273"/>
                </a:solidFill>
                <a:latin typeface="Aptos"/>
              </a:rPr>
              <a:t>git push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54680" y="2194560"/>
            <a:ext cx="274320" cy="0"/>
          </a:xfrm>
          <a:prstGeom prst="line">
            <a:avLst/>
          </a:prstGeom>
          <a:ln w="25400">
            <a:solidFill>
              <a:srgbClr val="157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06440" y="2194560"/>
            <a:ext cx="274320" cy="0"/>
          </a:xfrm>
          <a:prstGeom prst="line">
            <a:avLst/>
          </a:prstGeom>
          <a:ln w="25400">
            <a:solidFill>
              <a:srgbClr val="157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458200" y="2194560"/>
            <a:ext cx="274320" cy="0"/>
          </a:xfrm>
          <a:prstGeom prst="line">
            <a:avLst/>
          </a:prstGeom>
          <a:ln w="25400">
            <a:solidFill>
              <a:srgbClr val="157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8680" y="342900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72B4D"/>
                </a:solidFill>
                <a:latin typeface="Aptos"/>
              </a:rPr>
              <a:t>Publish after authentication and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977639"/>
            <a:ext cx="10607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36273"/>
                </a:solidFill>
                <a:latin typeface="Consolas"/>
              </a:rPr>
              <a:t>git init
git add .
git commit -m "Add Week 2 assignments"
gh repo create week-2-fintech-fundamentals --public --source=. --remote=origin --push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6692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B6B20"/>
                </a:solidFill>
                <a:latin typeface="Aptos"/>
              </a:rPr>
              <a:t>Check for secrets, personal data and confidential files before every push.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10515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36273"/>
                </a:solidFill>
                <a:latin typeface="Aptos"/>
              </a:rPr>
              <a:t>Week 2 | FinTech Domain &amp; Software Development Fundamentals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10528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36273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ptos"/>
              </a:rPr>
              <a:t>6. How Application Data Reaches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36273"/>
                </a:solidFill>
                <a:latin typeface="Aptos"/>
              </a:rPr>
              <a:t>Client, backend, database, pipeline and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88720"/>
            <a:ext cx="11064240" cy="32004"/>
          </a:xfrm>
          <a:prstGeom prst="rect">
            <a:avLst/>
          </a:prstGeom>
          <a:solidFill>
            <a:srgbClr val="15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oftware_architecture_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10789920" cy="4800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528"/>
            <a:ext cx="10515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36273"/>
                </a:solidFill>
                <a:latin typeface="Aptos"/>
              </a:rPr>
              <a:t>Week 2 | FinTech Domain &amp; Software Development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36273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ptos"/>
              </a:rPr>
              <a:t>7. FinTech Case Study: Zerodha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36273"/>
                </a:solidFill>
                <a:latin typeface="Aptos"/>
              </a:rPr>
              <a:t>Public engineering sources suggest opportunities for observable, data-informed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88720"/>
            <a:ext cx="11064240" cy="32004"/>
          </a:xfrm>
          <a:prstGeom prst="rect">
            <a:avLst/>
          </a:prstGeom>
          <a:solidFill>
            <a:srgbClr val="15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429000" cy="1508760"/>
          </a:xfrm>
          <a:prstGeom prst="roundRect">
            <a:avLst/>
          </a:prstGeom>
          <a:solidFill>
            <a:srgbClr val="ECF3FA"/>
          </a:solidFill>
          <a:ln>
            <a:solidFill>
              <a:srgbClr val="245C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600" b="1">
                <a:solidFill>
                  <a:srgbClr val="172B4D"/>
                </a:solidFill>
                <a:latin typeface="Aptos Display"/>
              </a:rPr>
              <a:t>Reliability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36273"/>
                </a:solidFill>
                <a:latin typeface="Aptos"/>
              </a:rPr>
              <a:t>Availability, p95 latency, API errors, incident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00200"/>
            <a:ext cx="3429000" cy="1508760"/>
          </a:xfrm>
          <a:prstGeom prst="roundRect">
            <a:avLst/>
          </a:prstGeom>
          <a:solidFill>
            <a:srgbClr val="ECF3FA"/>
          </a:solidFill>
          <a:ln>
            <a:solidFill>
              <a:srgbClr val="15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600" b="1">
                <a:solidFill>
                  <a:srgbClr val="172B4D"/>
                </a:solidFill>
                <a:latin typeface="Aptos Display"/>
              </a:rPr>
              <a:t>Customer journey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36273"/>
                </a:solidFill>
                <a:latin typeface="Aptos"/>
              </a:rPr>
              <a:t>KYC conversion, completion time, order rejection reasons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600200"/>
            <a:ext cx="3429000" cy="1508760"/>
          </a:xfrm>
          <a:prstGeom prst="roundRect">
            <a:avLst/>
          </a:prstGeom>
          <a:solidFill>
            <a:srgbClr val="ECF3FA"/>
          </a:solidFill>
          <a:ln>
            <a:solidFill>
              <a:srgbClr val="BB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600" b="1">
                <a:solidFill>
                  <a:srgbClr val="172B4D"/>
                </a:solidFill>
                <a:latin typeface="Aptos Display"/>
              </a:rPr>
              <a:t>Data quality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36273"/>
                </a:solidFill>
                <a:latin typeface="Aptos"/>
              </a:rPr>
              <a:t>Event lag, missing events, duplicates and reconciliations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03320"/>
            <a:ext cx="10469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2B4D"/>
                </a:solidFill>
                <a:latin typeface="Aptos"/>
              </a:rPr>
              <a:t>Public technical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519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172B4D"/>
                </a:solidFill>
                <a:latin typeface="Aptos"/>
              </a:defRPr>
            </a:pPr>
            <a:r>
              <a:t>Zerodha Tech documents logging, monitoring and large PostgreSQL workloads.</a:t>
            </a:r>
          </a:p>
          <a:p>
            <a:pPr>
              <a:spcAft>
                <a:spcPts val="1300"/>
              </a:spcAft>
              <a:defRPr sz="1500">
                <a:solidFill>
                  <a:srgbClr val="172B4D"/>
                </a:solidFill>
                <a:latin typeface="Aptos"/>
              </a:defRPr>
            </a:pPr>
            <a:r>
              <a:t>Analytics can connect system health to onboarding friction, order lifecycle and support outcomes.</a:t>
            </a:r>
          </a:p>
          <a:p>
            <a:pPr>
              <a:spcAft>
                <a:spcPts val="1300"/>
              </a:spcAft>
              <a:defRPr sz="1500">
                <a:solidFill>
                  <a:srgbClr val="172B4D"/>
                </a:solidFill>
                <a:latin typeface="Aptos"/>
              </a:defRPr>
            </a:pPr>
            <a:r>
              <a:t>Suggested KPIs are analyst proposals, not claims about Zerodha’s private internal metrics.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10515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36273"/>
                </a:solidFill>
                <a:latin typeface="Aptos"/>
              </a:rPr>
              <a:t>Week 2 | FinTech Domain &amp; Software Development Fundamentals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10528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36273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ptos"/>
              </a:rPr>
              <a:t>Submission Checklist &amp; Key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36273"/>
                </a:solidFill>
                <a:latin typeface="Aptos"/>
              </a:rPr>
              <a:t>Week 2 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88720"/>
            <a:ext cx="11064240" cy="32004"/>
          </a:xfrm>
          <a:prstGeom prst="rect">
            <a:avLst/>
          </a:prstGeom>
          <a:solidFill>
            <a:srgbClr val="15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72B4D"/>
                </a:solidFill>
                <a:latin typeface="Aptos"/>
              </a:defRPr>
            </a:pPr>
            <a:r>
              <a:t>Stock market summary + Infosys FY2025-26 statement analysis</a:t>
            </a:r>
          </a:p>
          <a:p>
            <a:pPr>
              <a:spcAft>
                <a:spcPts val="1300"/>
              </a:spcAft>
              <a:defRPr sz="1800">
                <a:solidFill>
                  <a:srgbClr val="172B4D"/>
                </a:solidFill>
                <a:latin typeface="Aptos"/>
              </a:defRPr>
            </a:pPr>
            <a:r>
              <a:t>API extraction script + example JSON/CSV + Postman steps</a:t>
            </a:r>
          </a:p>
          <a:p>
            <a:pPr>
              <a:spcAft>
                <a:spcPts val="1300"/>
              </a:spcAft>
              <a:defRPr sz="1800">
                <a:solidFill>
                  <a:srgbClr val="172B4D"/>
                </a:solidFill>
                <a:latin typeface="Aptos"/>
              </a:defRPr>
            </a:pPr>
            <a:r>
              <a:t>Git/GitHub workflow guide and secure publishing checklist</a:t>
            </a:r>
          </a:p>
          <a:p>
            <a:pPr>
              <a:spcAft>
                <a:spcPts val="1300"/>
              </a:spcAft>
              <a:defRPr sz="1800">
                <a:solidFill>
                  <a:srgbClr val="172B4D"/>
                </a:solidFill>
                <a:latin typeface="Aptos"/>
              </a:defRPr>
            </a:pPr>
            <a:r>
              <a:t>Software architecture / data-flow diagram</a:t>
            </a:r>
          </a:p>
          <a:p>
            <a:pPr>
              <a:spcAft>
                <a:spcPts val="1300"/>
              </a:spcAft>
              <a:defRPr sz="1800">
                <a:solidFill>
                  <a:srgbClr val="172B4D"/>
                </a:solidFill>
                <a:latin typeface="Aptos"/>
              </a:defRPr>
            </a:pPr>
            <a:r>
              <a:t>Zerodha FinTech research report</a:t>
            </a:r>
          </a:p>
          <a:p>
            <a:pPr>
              <a:spcAft>
                <a:spcPts val="1300"/>
              </a:spcAft>
              <a:defRPr sz="1800">
                <a:solidFill>
                  <a:srgbClr val="172B4D"/>
                </a:solidFill>
                <a:latin typeface="Aptos"/>
              </a:defRPr>
            </a:pPr>
            <a:r>
              <a:t>PowerPoint slides and source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49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36273"/>
                </a:solidFill>
                <a:latin typeface="Aptos"/>
              </a:rPr>
              <a:t>Sources: Infosys official FY26 reports • NSE • SEBI Investor • CDSL • Zerodha Tech / Varsity • Frankfurter API 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0515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36273"/>
                </a:solidFill>
                <a:latin typeface="Aptos"/>
              </a:rPr>
              <a:t>Week 2 | FinTech Domain &amp; Software Development Fundamentals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0528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36273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